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54360"/>
          </a:solidFill>
          <a:ln w="12700">
            <a:solidFill>
              <a:srgbClr val="1543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18872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Agent Cost Analysis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11480" y="22402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Bedrock AgentCore  vs.  Azure OpenAI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11480" y="2926080"/>
            <a:ext cx="6400800" cy="502920"/>
          </a:xfrm>
          <a:prstGeom prst="rect">
            <a:avLst/>
          </a:prstGeom>
          <a:solidFill>
            <a:srgbClr val="1A5276"/>
          </a:solidFill>
          <a:ln w="6350">
            <a:solidFill>
              <a:srgbClr val="4A90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29260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Tier 1 Banking  |  Fraud Prevention &amp; Credit Services  |  April 2026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448056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AFD0"/>
                </a:solidFill>
              </a:rPr>
              <a:t>First-Cut Estimate  •  For Internal Review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C9A84C"/>
                </a:solidFill>
              </a:rPr>
              <a:t>EXECUTIVE DIGEST  •  PAGE 1 OF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Summary: AWS vs Azure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697480" cy="1051560"/>
          </a:xfrm>
          <a:prstGeom prst="rect">
            <a:avLst/>
          </a:prstGeom>
          <a:solidFill>
            <a:srgbClr val="D1FAE5"/>
          </a:solidFill>
          <a:ln w="9525">
            <a:solidFill>
              <a:srgbClr val="0B6E4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033272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6E4F"/>
                </a:solidFill>
              </a:rPr>
              <a:t>AWS Core (On-Demand)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74320" y="1216152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6E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$3,084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74320" y="1636776"/>
            <a:ext cx="2697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B6E4F"/>
                </a:solidFill>
              </a:rPr>
              <a:t>per month  •  $37,010/year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74320" y="1792224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4748B"/>
                </a:solidFill>
              </a:rPr>
              <a:t>6 services · 25K sessions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154680" y="1005840"/>
            <a:ext cx="2697480" cy="1051560"/>
          </a:xfrm>
          <a:prstGeom prst="rect">
            <a:avLst/>
          </a:prstGeom>
          <a:solidFill>
            <a:srgbClr val="DBEAFE"/>
          </a:solidFill>
          <a:ln w="9525">
            <a:solidFill>
              <a:srgbClr val="1E3A8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154680" y="1033272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A8A"/>
                </a:solidFill>
              </a:rPr>
              <a:t>Azure On-Demand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154680" y="1216152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$3,450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154680" y="1636776"/>
            <a:ext cx="2697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3A8A"/>
                </a:solidFill>
              </a:rPr>
              <a:t>per month  •  Standard + Batch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154680" y="1792224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4748B"/>
                </a:solidFill>
              </a:rPr>
              <a:t>GPT-4o-1120 · East US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6035040" y="1005840"/>
            <a:ext cx="2697480" cy="1051560"/>
          </a:xfrm>
          <a:prstGeom prst="rect">
            <a:avLst/>
          </a:prstGeom>
          <a:solidFill>
            <a:srgbClr val="FEE2E2"/>
          </a:solidFill>
          <a:ln w="9525">
            <a:solidFill>
              <a:srgbClr val="9B1C1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035040" y="1033272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B1C1C"/>
                </a:solidFill>
              </a:rPr>
              <a:t>Azure PTU (50 units)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035040" y="1216152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B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$37,075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035040" y="1636776"/>
            <a:ext cx="2697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B1C1C"/>
                </a:solidFill>
              </a:rPr>
              <a:t>per month  •  NOT RECOMMENDED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035040" y="1792224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4748B"/>
                </a:solidFill>
              </a:rPr>
              <a:t>~5% utilization at this volume</a:t>
            </a:r>
            <a:endParaRPr lang="en-US" sz="7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176272"/>
          <a:ext cx="8595360" cy="2468880"/>
        </p:xfrm>
        <a:graphic>
          <a:graphicData uri="http://schemas.openxmlformats.org/drawingml/2006/table">
            <a:tbl>
              <a:tblPr/>
              <a:tblGrid>
                <a:gridCol w="2331720"/>
                <a:gridCol w="4480560"/>
                <a:gridCol w="1783080"/>
              </a:tblGrid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Service</a:t>
                      </a:r>
                      <a:endParaRPr lang="en-US" sz="9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Configuration Inputs</a:t>
                      </a:r>
                      <a:endParaRPr lang="en-US" sz="9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Monthly</a:t>
                      </a:r>
                      <a:endParaRPr lang="en-US" sz="9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AgentCore Runtime</a:t>
                      </a:r>
                      <a:endParaRPr lang="en-US" sz="9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25,000 sessions · 300s · 95% I/O wait · 2 vCPU · 1 GB</a:t>
                      </a:r>
                      <a:endParaRPr lang="en-US" sz="9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B6E4F"/>
                          </a:solidFill>
                        </a:rPr>
                        <a:t>$38.33</a:t>
                      </a:r>
                      <a:endParaRPr lang="en-US" sz="9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AgentCore Gateway</a:t>
                      </a:r>
                      <a:endParaRPr lang="en-US" sz="9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10,000 sessions · 10 tools · 5 invocations/session</a:t>
                      </a:r>
                      <a:endParaRPr lang="en-US" sz="9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$0.75</a:t>
                      </a:r>
                      <a:endParaRPr lang="en-US" sz="9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AgentCore Memory</a:t>
                      </a:r>
                      <a:endParaRPr lang="en-US" sz="9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10,000 sessions · 5 turns/session · 100s</a:t>
                      </a:r>
                      <a:endParaRPr lang="en-US" sz="9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$19.29</a:t>
                      </a:r>
                      <a:endParaRPr lang="en-US" sz="9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AgentCore Observability</a:t>
                      </a:r>
                      <a:endParaRPr lang="en-US" sz="9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1.5 GB logs + 5 GB spans per month (CloudWatch)</a:t>
                      </a:r>
                      <a:endParaRPr lang="en-US" sz="9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$2.50</a:t>
                      </a:r>
                      <a:endParaRPr lang="en-US" sz="9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Claude Sonnet 4.5 — Standard</a:t>
                      </a:r>
                      <a:endParaRPr lang="en-US" sz="9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3 req/min · 24h/day · 6,000 input + 800 output tokens</a:t>
                      </a:r>
                      <a:endParaRPr lang="en-US" sz="9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</a:rPr>
                        <a:t>$2,198.30</a:t>
                      </a:r>
                      <a:endParaRPr lang="en-US" sz="9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Claude Sonnet 4.5 — Batch</a:t>
                      </a:r>
                      <a:endParaRPr lang="en-US" sz="9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50,000 records/month · 6,000 input + 800 output tokens</a:t>
                      </a:r>
                      <a:endParaRPr lang="en-US" sz="9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$825.00</a:t>
                      </a:r>
                      <a:endParaRPr lang="en-US" sz="9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9A84C"/>
                          </a:solidFill>
                        </a:rPr>
                        <a:t>TOTAL — AWS Core Services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CADCFC"/>
                          </a:solidFill>
                        </a:rPr>
                        <a:t>Annual: $37,010.04</a:t>
                      </a:r>
                      <a:endParaRPr lang="en-US" sz="9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C9A84C"/>
                          </a:solidFill>
                        </a:rPr>
                        <a:t>$3,084.17</a:t>
                      </a:r>
                      <a:endParaRPr lang="en-US" sz="11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C9A84C"/>
                </a:solidFill>
              </a:rPr>
              <a:t>EXECUTIVE DIGEST  •  PAGE 2 OF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Scope, Gaps &amp; Recommendation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02336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4023360" cy="292608"/>
          </a:xfrm>
          <a:prstGeom prst="rect">
            <a:avLst/>
          </a:prstGeom>
          <a:solidFill>
            <a:srgbClr val="0B6E4F"/>
          </a:solidFill>
          <a:ln w="12700">
            <a:solidFill>
              <a:srgbClr val="0B6E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0584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   INCLUDED IN THIS ESTIMATE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365760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AgentCore Runtime (compute &amp; memory)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AgentCore Gateway (tool invocations)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AgentCore Memory (session state)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AgentCore Observability (logs + spans)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Claude Sonnet 4.5 inference — Standard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Claude Sonnet 4.5 inference — Batch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0" y="1005840"/>
            <a:ext cx="429768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1005840"/>
            <a:ext cx="4297680" cy="292608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00584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⚠   NOT YET COSTED  (est. +$5K–$15K/mo)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709160" y="1371600"/>
            <a:ext cx="402336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Amazon Bedrock Guardrails (PII, content filter)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Amazon OpenSearch Serverless (RAG/KB vector store)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AWS KMS (encryption key management)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AWS CloudTrail (audit logging — compliance)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VPC Endpoints / PrivateLink (private connectivity)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API Gateway · Lambda · DynamoDB · S3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3657600"/>
            <a:ext cx="8595360" cy="1170432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3657600"/>
            <a:ext cx="109728" cy="1170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70332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C9A84C"/>
                </a:solidFill>
              </a:rPr>
              <a:t>RECOMMENDATION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57200" y="3931920"/>
            <a:ext cx="8275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Use AWS on-demand at current volume ($3,084/mo). </a:t>
            </a:r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Route non-urgent workflows through Batch for 50% savings. </a:t>
            </a:r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Azure PTU is not viable until sessions reach ~250K/month. </a:t>
            </a:r>
            <a:pPr indent="0" marL="0">
              <a:buNone/>
            </a:pPr>
            <a:r>
              <a:rPr lang="en-US" sz="1050" b="1" dirty="0">
                <a:solidFill>
                  <a:srgbClr val="C9A84C"/>
                </a:solidFill>
              </a:rPr>
              <a:t>Add Guardrails + OpenSearch to next revision before sharing with procurement.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543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5544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84C"/>
                </a:solidFill>
              </a:rPr>
              <a:t>DETAILED ANALYSIS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AgentCore Services  •  Inference Pricing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Azure Comparison  •  Additional Services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Assumptions  •  Glossary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AgentCore Services Breakdown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01168" y="594360"/>
            <a:ext cx="2075688" cy="4251960"/>
          </a:xfrm>
          <a:prstGeom prst="rect">
            <a:avLst/>
          </a:prstGeom>
          <a:solidFill>
            <a:srgbClr val="FFFFFF"/>
          </a:solidFill>
          <a:ln w="9525">
            <a:solidFill>
              <a:srgbClr val="0E74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1168" y="594360"/>
            <a:ext cx="2075688" cy="34747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" y="594360"/>
            <a:ext cx="2075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AgentCore Runtime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01168" y="987552"/>
            <a:ext cx="2075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74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$38.33/mo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38328" y="1408176"/>
            <a:ext cx="1801368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" y="1463040"/>
            <a:ext cx="189280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25,000 sessions/month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300s avg session duration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95% I/O wait → free CPU during waits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2 vCPU (active only) · 1 GB memory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1-second minimum billing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38328" y="3429000"/>
            <a:ext cx="1801368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0896" y="3493008"/>
            <a:ext cx="189280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</a:rPr>
              <a:t>Billed per second of active CPU. I/O wait during LLM calls is FREE. Major cost advantage over traditional VMs.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395728" y="594360"/>
            <a:ext cx="2075688" cy="4251960"/>
          </a:xfrm>
          <a:prstGeom prst="rect">
            <a:avLst/>
          </a:prstGeom>
          <a:solidFill>
            <a:srgbClr val="FFFFFF"/>
          </a:solidFill>
          <a:ln w="9525">
            <a:solidFill>
              <a:srgbClr val="1E3A8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395728" y="594360"/>
            <a:ext cx="2075688" cy="34747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95728" y="594360"/>
            <a:ext cx="2075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AgentCore Gateway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395728" y="987552"/>
            <a:ext cx="2075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$0.75/mo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2532888" y="1408176"/>
            <a:ext cx="1801368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05456" y="1463040"/>
            <a:ext cx="189280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10,000 sessions/month*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10 tools defined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2 Search API requests/session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5 tool invocations/session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MCP server + Lambda support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532888" y="3429000"/>
            <a:ext cx="1801368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05456" y="3493008"/>
            <a:ext cx="189280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</a:rPr>
              <a:t>*Should be updated to 25,000 to match Runtime. Transforms APIs and Lambda into agent-compatible tools.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590288" y="594360"/>
            <a:ext cx="2075688" cy="4251960"/>
          </a:xfrm>
          <a:prstGeom prst="rect">
            <a:avLst/>
          </a:prstGeom>
          <a:solidFill>
            <a:srgbClr val="FFFFFF"/>
          </a:solidFill>
          <a:ln w="9525">
            <a:solidFill>
              <a:srgbClr val="1A527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90288" y="594360"/>
            <a:ext cx="2075688" cy="34747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90288" y="594360"/>
            <a:ext cx="2075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AgentCore Memory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90288" y="987552"/>
            <a:ext cx="2075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52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$19.29/mo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4727448" y="1408176"/>
            <a:ext cx="1801368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0016" y="1463040"/>
            <a:ext cx="189280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10,000 sessions/month*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5 turns/session (real-time)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100s avg session duration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Short-term + long-term memory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Per-event + per-record billing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727448" y="3429000"/>
            <a:ext cx="1801368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0016" y="3493008"/>
            <a:ext cx="189280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</a:rPr>
              <a:t>*Should be updated to 25,000 to match Runtime. Identity (OAuth/API keys) is FREE through Runtime or Gateway.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6784848" y="594360"/>
            <a:ext cx="2075688" cy="4251960"/>
          </a:xfrm>
          <a:prstGeom prst="rect">
            <a:avLst/>
          </a:prstGeom>
          <a:solidFill>
            <a:srgbClr val="FFFFFF"/>
          </a:solidFill>
          <a:ln w="9525">
            <a:solidFill>
              <a:srgbClr val="0B6E4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784848" y="594360"/>
            <a:ext cx="2075688" cy="347472"/>
          </a:xfrm>
          <a:prstGeom prst="rect">
            <a:avLst/>
          </a:prstGeom>
          <a:solidFill>
            <a:srgbClr val="0B6E4F"/>
          </a:solidFill>
          <a:ln w="12700">
            <a:solidFill>
              <a:srgbClr val="0B6E4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84848" y="594360"/>
            <a:ext cx="2075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AgentCore Observability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784848" y="987552"/>
            <a:ext cx="2075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6E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$2.50/mo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6922008" y="1408176"/>
            <a:ext cx="1801368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94576" y="1463040"/>
            <a:ext cx="189280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1.5 GB logs ingested/month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5 GB spans ingested/month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Powered by Amazon CloudWatch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Trace, debug, and monitor agents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CI/CD integration via Evaluations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922008" y="3429000"/>
            <a:ext cx="1801368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94576" y="3493008"/>
            <a:ext cx="189280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</a:rPr>
              <a:t>Guardrails, Policy, and Evaluations are NOT yet in AWS Pricing Calculator — add manually from pricing pages.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Sonnet 4.5 Inference: Standard vs Batch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56032" y="594360"/>
            <a:ext cx="406908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594360"/>
            <a:ext cx="4069080" cy="33832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594360"/>
            <a:ext cx="40690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</a:rPr>
              <a:t>STANDARD (ON-DEMAND)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56032" y="978408"/>
            <a:ext cx="4069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52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$2,198.30 / month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93192" y="1417320"/>
            <a:ext cx="37947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" y="1481328"/>
            <a:ext cx="4069080" cy="329184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" y="148132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Request rate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67712" y="148132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3 req/min (2.9 calculated)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6032" y="1828800"/>
            <a:ext cx="406908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3192" y="182880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Hours/day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67712" y="182880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24 hours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56032" y="2176272"/>
            <a:ext cx="4069080" cy="329184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3192" y="217627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Input tokens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67712" y="217627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6,000 per request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56032" y="2523744"/>
            <a:ext cx="406908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3192" y="252374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Output tokens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67712" y="252374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800 per request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56032" y="2871216"/>
            <a:ext cx="4069080" cy="329184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3192" y="287121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Inference route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267712" y="287121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Geo Cross-Region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56032" y="3218688"/>
            <a:ext cx="406908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3192" y="321868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Monthly requests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267712" y="321868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~129,600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56032" y="3566160"/>
            <a:ext cx="4069080" cy="329184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3192" y="356616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Latency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267712" y="356616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Real-time (sub-second)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56032" y="3913632"/>
            <a:ext cx="406908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93192" y="391363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Best for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267712" y="391363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276"/>
                </a:solidFill>
              </a:rPr>
              <a:t>Live fraud checks, credit decisions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818888" y="594360"/>
            <a:ext cx="406908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18888" y="594360"/>
            <a:ext cx="4069080" cy="338328"/>
          </a:xfrm>
          <a:prstGeom prst="rect">
            <a:avLst/>
          </a:prstGeom>
          <a:solidFill>
            <a:srgbClr val="0B6E4F"/>
          </a:solidFill>
          <a:ln w="12700">
            <a:solidFill>
              <a:srgbClr val="0B6E4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18888" y="594360"/>
            <a:ext cx="40690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</a:rPr>
              <a:t>BATCH  —  50% CHEAPER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18888" y="978408"/>
            <a:ext cx="4069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6E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$825.00 / month</a:t>
            </a:r>
            <a:endParaRPr lang="en-US" sz="2200" dirty="0"/>
          </a:p>
        </p:txBody>
      </p:sp>
      <p:sp>
        <p:nvSpPr>
          <p:cNvPr id="37" name="Shape 35"/>
          <p:cNvSpPr/>
          <p:nvPr/>
        </p:nvSpPr>
        <p:spPr>
          <a:xfrm>
            <a:off x="4956048" y="1417320"/>
            <a:ext cx="37947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18888" y="1481328"/>
            <a:ext cx="4069080" cy="329184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56048" y="148132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Total records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830568" y="148132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50,000 / month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818888" y="1828800"/>
            <a:ext cx="406908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56048" y="182880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Input tokens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830568" y="182880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6,000 per record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818888" y="2176272"/>
            <a:ext cx="4069080" cy="329184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56048" y="217627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Output tokens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830568" y="217627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800 per record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818888" y="2523744"/>
            <a:ext cx="406908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56048" y="252374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Processing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830568" y="252374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Asynchronous (hours)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818888" y="2871216"/>
            <a:ext cx="4069080" cy="329184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956048" y="287121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Savings vs Standard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830568" y="287121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6E4F"/>
                </a:solidFill>
              </a:rPr>
              <a:t>~62% cheaper at this volume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818888" y="3218688"/>
            <a:ext cx="406908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956048" y="321868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Inference route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830568" y="321868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Geo Cross-Region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818888" y="3566160"/>
            <a:ext cx="4069080" cy="329184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956048" y="356616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Latency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830568" y="356616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Non-real-time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818888" y="3913632"/>
            <a:ext cx="406908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956048" y="391363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Best for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6830568" y="391363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6E4F"/>
                </a:solidFill>
              </a:rPr>
              <a:t>Nightly sweeps, report generation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Azure OpenAI: Hosting Types Compared  (GPT-4o-1120, East US)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28600" y="594360"/>
            <a:ext cx="2788920" cy="42519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594360"/>
            <a:ext cx="2788920" cy="38404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59436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Standard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(On-Demand)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28600" y="1024128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$2,874.97/mo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365760" y="1444752"/>
            <a:ext cx="2514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1499616"/>
            <a:ext cx="2788920" cy="41148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" y="1499616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Tokens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325880" y="1499616"/>
            <a:ext cx="1581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750K input + 100K output (×1K)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28600" y="1938528"/>
            <a:ext cx="278892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" y="1938528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Deployment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325880" y="1938528"/>
            <a:ext cx="1581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Global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28600" y="2377440"/>
            <a:ext cx="2788920" cy="41148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" y="237744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Pricing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325880" y="2377440"/>
            <a:ext cx="1581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Pay per token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28600" y="2816352"/>
            <a:ext cx="278892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" y="2816352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Latency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325880" y="2816352"/>
            <a:ext cx="1581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Real-time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28600" y="3255264"/>
            <a:ext cx="2788920" cy="41148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8328" y="3255264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Minimum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325880" y="3255264"/>
            <a:ext cx="1581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None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28600" y="3694176"/>
            <a:ext cx="278892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8328" y="3694176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Verdict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325880" y="3694176"/>
            <a:ext cx="1581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8A"/>
                </a:solidFill>
              </a:rPr>
              <a:t>✓  Viable alternative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154680" y="594360"/>
            <a:ext cx="2788920" cy="42519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154680" y="594360"/>
            <a:ext cx="2788920" cy="384048"/>
          </a:xfrm>
          <a:prstGeom prst="rect">
            <a:avLst/>
          </a:prstGeom>
          <a:solidFill>
            <a:srgbClr val="0B6E4F"/>
          </a:solidFill>
          <a:ln w="12700">
            <a:solidFill>
              <a:srgbClr val="0B6E4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54680" y="59436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Batch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(On-Demand)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154680" y="1024128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6E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$575.00/mo</a:t>
            </a:r>
            <a:endParaRPr lang="en-US" sz="1900" dirty="0"/>
          </a:p>
        </p:txBody>
      </p:sp>
      <p:sp>
        <p:nvSpPr>
          <p:cNvPr id="31" name="Shape 29"/>
          <p:cNvSpPr/>
          <p:nvPr/>
        </p:nvSpPr>
        <p:spPr>
          <a:xfrm>
            <a:off x="3291840" y="1444752"/>
            <a:ext cx="2514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154680" y="1499616"/>
            <a:ext cx="2788920" cy="41148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64408" y="1499616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Tokens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251960" y="1499616"/>
            <a:ext cx="1581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300K input + 40K output (×1K)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154680" y="1938528"/>
            <a:ext cx="278892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64408" y="1938528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Deployment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251960" y="1938528"/>
            <a:ext cx="1581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Global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154680" y="2377440"/>
            <a:ext cx="2788920" cy="41148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64408" y="237744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Pricing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251960" y="2377440"/>
            <a:ext cx="1581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50% off standard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154680" y="2816352"/>
            <a:ext cx="278892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64408" y="2816352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Latency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251960" y="2816352"/>
            <a:ext cx="1581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Asynchronous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154680" y="3255264"/>
            <a:ext cx="2788920" cy="41148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64408" y="3255264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Minimum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251960" y="3255264"/>
            <a:ext cx="1581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None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3154680" y="3694176"/>
            <a:ext cx="278892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64408" y="3694176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Verdict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251960" y="3694176"/>
            <a:ext cx="1581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6E4F"/>
                </a:solidFill>
              </a:rPr>
              <a:t>✓  Cost-efficient choice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080760" y="594360"/>
            <a:ext cx="2788920" cy="4251960"/>
          </a:xfrm>
          <a:prstGeom prst="rect">
            <a:avLst/>
          </a:prstGeom>
          <a:solidFill>
            <a:srgbClr val="FFFFFF"/>
          </a:solidFill>
          <a:ln w="19050">
            <a:solidFill>
              <a:srgbClr val="9B1C1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080760" y="594360"/>
            <a:ext cx="2788920" cy="384048"/>
          </a:xfrm>
          <a:prstGeom prst="rect">
            <a:avLst/>
          </a:prstGeom>
          <a:solidFill>
            <a:srgbClr val="9B1C1C"/>
          </a:solidFill>
          <a:ln w="12700">
            <a:solidFill>
              <a:srgbClr val="9B1C1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080760" y="59436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Provisioned (PTU)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50 Units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6080760" y="1024128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9B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$36,500.00/mo</a:t>
            </a:r>
            <a:endParaRPr lang="en-US" sz="1900" dirty="0"/>
          </a:p>
        </p:txBody>
      </p:sp>
      <p:sp>
        <p:nvSpPr>
          <p:cNvPr id="54" name="Shape 52"/>
          <p:cNvSpPr/>
          <p:nvPr/>
        </p:nvSpPr>
        <p:spPr>
          <a:xfrm>
            <a:off x="6217920" y="1444752"/>
            <a:ext cx="2514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080760" y="1499616"/>
            <a:ext cx="2788920" cy="41148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190488" y="1499616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Units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7178040" y="1499616"/>
            <a:ext cx="1581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50 PTUs × 730 hrs/mo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6080760" y="1938528"/>
            <a:ext cx="278892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190488" y="1938528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Deployment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7178040" y="1938528"/>
            <a:ext cx="1581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Global (50 PTU minimum)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6080760" y="2377440"/>
            <a:ext cx="2788920" cy="41148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190488" y="237744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Pricing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7178040" y="2377440"/>
            <a:ext cx="1581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~$2/PTU/hr fixed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6080760" y="2816352"/>
            <a:ext cx="278892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190488" y="2816352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Utilization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7178040" y="2816352"/>
            <a:ext cx="1581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~5% at this volume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6080760" y="3255264"/>
            <a:ext cx="2788920" cy="41148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190488" y="3255264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Break-even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7178040" y="3255264"/>
            <a:ext cx="1581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~250K sessions/month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6080760" y="3694176"/>
            <a:ext cx="278892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190488" y="3694176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Verdict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7178040" y="3694176"/>
            <a:ext cx="1581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B1C1C"/>
                </a:solidFill>
              </a:rPr>
              <a:t>✗  NOT recommended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228600" y="4892040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</a:rPr>
              <a:t>Note: PTU not available for Claude Sonnet 3.7 on Azure. GPT 4.1 is a closer peer to Claude Sonnet 4.5 than GPT-4o-1120 — update model selection when repricing.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Services Not Yet Included in Estimate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566928"/>
            <a:ext cx="8595360" cy="256032"/>
          </a:xfrm>
          <a:prstGeom prst="rect">
            <a:avLst/>
          </a:prstGeom>
          <a:solidFill>
            <a:srgbClr val="9B1C1C"/>
          </a:solidFill>
          <a:ln w="12700">
            <a:solidFill>
              <a:srgbClr val="9B1C1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566928"/>
            <a:ext cx="8595360" cy="25603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PRIORITY 1 — Add Next  (High Cost or Compliance-Critical)</a:t>
            </a:r>
            <a:endParaRPr lang="en-US" sz="8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22960"/>
          <a:ext cx="8595360" cy="1828800"/>
        </p:xfrm>
        <a:graphic>
          <a:graphicData uri="http://schemas.openxmlformats.org/drawingml/2006/table">
            <a:tbl>
              <a:tblPr/>
              <a:tblGrid>
                <a:gridCol w="2286000"/>
                <a:gridCol w="1234440"/>
                <a:gridCol w="507492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Service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Est. Monthly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Why It's Needed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2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Amazon Bedrock Guardrails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9B1C1C"/>
                          </a:solidFill>
                        </a:rPr>
                        <a:t>$500–$2,000/mo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</a:rPr>
                        <a:t>PII detection, content filtering, topic guardrails. Non-negotiable for banking. Not yet in AWS Pricing Calculator — price manually.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Amazon OpenSearch Serverless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9B1C1C"/>
                          </a:solidFill>
                        </a:rPr>
                        <a:t>$700–$2,000/mo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</a:rPr>
                        <a:t>Vector store for RAG / Knowledge Bases. Required if agents query fraud rules, credit policies, or onboarding documents.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VPC Endpoints (PrivateLink)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9B1C1C"/>
                          </a:solidFill>
                        </a:rPr>
                        <a:t>$50–$200/mo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</a:rPr>
                        <a:t>Routes Bedrock traffic inside AWS private network. Mandatory for Tier 1 bank security policy.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AWS CloudTrail (Data Events)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9B1C1C"/>
                          </a:solidFill>
                        </a:rPr>
                        <a:t>$50–$300/mo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</a:rPr>
                        <a:t>Full API audit trail for all agent calls. Required for banking regulatory compliance (SOC2, PCI-DSS).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AWS KMS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9B1C1C"/>
                          </a:solidFill>
                        </a:rPr>
                        <a:t>$10–$50/mo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</a:rPr>
                        <a:t>Encryption key management for data at rest (S3, DynamoDB, Bedrock outputs). Banking compliance requirement.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2706624"/>
            <a:ext cx="8595360" cy="256032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4320" y="2706624"/>
            <a:ext cx="8595360" cy="25603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PRIORITY 2 — Add to Next Revision  (Operationally Necessary)</a:t>
            </a:r>
            <a:endParaRPr lang="en-US" sz="85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962656"/>
          <a:ext cx="8595360" cy="1481328"/>
        </p:xfrm>
        <a:graphic>
          <a:graphicData uri="http://schemas.openxmlformats.org/drawingml/2006/table">
            <a:tbl>
              <a:tblPr/>
              <a:tblGrid>
                <a:gridCol w="2286000"/>
                <a:gridCol w="1234440"/>
                <a:gridCol w="50749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Amazon API Gateway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92400E"/>
                          </a:solidFill>
                        </a:rPr>
                        <a:t>$50–$500/mo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</a:rPr>
                        <a:t>Exposes agents as APIs to internal banking apps, portals, and frontends.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AWS Lambda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92400E"/>
                          </a:solidFill>
                        </a:rPr>
                        <a:t>$20–$200/mo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</a:rPr>
                        <a:t>Executes tool functions called by agents. ~125K+ invocations/month at this session volume.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Amazon DynamoDB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92400E"/>
                          </a:solidFill>
                        </a:rPr>
                        <a:t>$20–$100/mo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</a:rPr>
                        <a:t>Session state, conversation history, and persistent agent context storage.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Amazon S3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92400E"/>
                          </a:solidFill>
                        </a:rPr>
                        <a:t>$10–$50/mo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</a:rPr>
                        <a:t>Knowledge base documents, batch job artifacts, and direct-code deployment storage.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274320" y="4544568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</a:rPr>
              <a:t>Note: Bedrock Guardrails, AgentCore Policy, and AgentCore Evaluations are not yet integrated into the standard AWS Pricing Calculator. Derive costs manually from aws.amazon.com/bedrock/agentcore/pricing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Assumptions &amp; Rationale</a:t>
            </a:r>
            <a:endParaRPr lang="en-US" sz="1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566928"/>
          <a:ext cx="8595360" cy="4462272"/>
        </p:xfrm>
        <a:graphic>
          <a:graphicData uri="http://schemas.openxmlformats.org/drawingml/2006/table">
            <a:tbl>
              <a:tblPr/>
              <a:tblGrid>
                <a:gridCol w="2194560"/>
                <a:gridCol w="1371600"/>
                <a:gridCol w="5029200"/>
              </a:tblGrid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Parameter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Rationale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</a:rPr>
                        <a:t>25 Agents · 10 Use Cases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5276"/>
                          </a:solidFill>
                        </a:rPr>
                        <a:t>25,000 sessions/mo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</a:rPr>
                        <a:t>5 QC processes × 5 agents × 1,000 invocations. Conservative for a Tier 1 bank (fraud, credit, onboarding, reporting, compliance).</a:t>
                      </a:r>
                      <a:endParaRPr lang="en-US" sz="8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</a:rPr>
                        <a:t>6,000 Input / 800 Output Tokens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5276"/>
                          </a:solidFill>
                        </a:rPr>
                        <a:t>Per session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</a:rPr>
                        <a:t>Large system prompts handle Basel III, CCAR, GDPR guardrails + tool schemas for core banking APIs. Output is concise agent responses.</a:t>
                      </a:r>
                      <a:endParaRPr lang="en-US" sz="8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</a:rPr>
                        <a:t>95% I/O Wait Time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5276"/>
                          </a:solidFill>
                        </a:rPr>
                        <a:t>→ 5% active CPU billed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</a:rPr>
                        <a:t>Legacy banking middleware latency. AgentCore bills CPU only during active processing. I/O wait = FREE. Major advantage vs. EC2.</a:t>
                      </a:r>
                      <a:endParaRPr lang="en-US" sz="8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</a:rPr>
                        <a:t>3 req/min Standard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5276"/>
                          </a:solidFill>
                        </a:rPr>
                        <a:t>24h/day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</a:rPr>
                        <a:t>125K req/month ÷ 43,200 min = 2.9 req/min. Initial draft had 2,315 req/min — a calculator misconfiguration. Corrected value reduces Bedrock cost from ~$1.5M to $2,198/mo.</a:t>
                      </a:r>
                      <a:endParaRPr lang="en-US" sz="8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</a:rPr>
                        <a:t>50,000 Batch Records/mo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5276"/>
                          </a:solidFill>
                        </a:rPr>
                        <a:t>2× real-time volume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</a:rPr>
                        <a:t>Covers nightly fraud sweeps, credit reviews, scheduled reports across 25 agents. Conservative proxy — refine after PoC.</a:t>
                      </a:r>
                      <a:endParaRPr lang="en-US" sz="8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</a:rPr>
                        <a:t>Claude Sonnet 4.5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5276"/>
                          </a:solidFill>
                        </a:rPr>
                        <a:t>Mid-tier current-gen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</a:rPr>
                        <a:t>Sufficient reasoning for financial QC. For Azure comparison, GPT 4.1 is the correct peer (not GPT-4o-1120 used in current Azure estimate).</a:t>
                      </a:r>
                      <a:endParaRPr lang="en-US" sz="8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</a:rPr>
                        <a:t>No Prompt Caching in Calculator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5276"/>
                          </a:solidFill>
                        </a:rPr>
                        <a:t>Model separately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</a:rPr>
                        <a:t>Correct rates: writes $0.00375/1K, reads $0.0003/1K. Adding 90% cache hit rate could reduce inference cost 40–60%.</a:t>
                      </a:r>
                      <a:endParaRPr lang="en-US" sz="8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</a:rPr>
                        <a:t>Geo Cross-Region Inference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5276"/>
                          </a:solidFill>
                        </a:rPr>
                        <a:t>On-demand routing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</a:rPr>
                        <a:t>Routes to nearest available region. No cost premium vs. single-region at this throughput. Improves resilience.</a:t>
                      </a:r>
                      <a:endParaRPr lang="en-US" sz="8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Glossary of Key Terms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56032" y="566928"/>
            <a:ext cx="4206240" cy="704088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566928"/>
            <a:ext cx="54864" cy="70408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612648"/>
            <a:ext cx="4041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744"/>
                </a:solidFill>
              </a:rPr>
              <a:t>AgentCore Runtime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84048" y="813816"/>
            <a:ext cx="4041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AWS's serverless compute for AI agents. Bills only active CPU seconds — idle time during LLM/API calls is free.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56032" y="1307592"/>
            <a:ext cx="4206240" cy="704088"/>
          </a:xfrm>
          <a:prstGeom prst="rect">
            <a:avLst/>
          </a:prstGeom>
          <a:solidFill>
            <a:srgbClr val="EBF2FA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" y="1307592"/>
            <a:ext cx="54864" cy="70408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353312"/>
            <a:ext cx="4041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744"/>
                </a:solidFill>
              </a:rPr>
              <a:t>AgentCore Gateway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84048" y="1554480"/>
            <a:ext cx="4041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Manages tool discovery and invocation. Converts Lambda functions, APIs, and MCP servers into agent-usable tools.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56032" y="2048256"/>
            <a:ext cx="4206240" cy="704088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6032" y="2048256"/>
            <a:ext cx="54864" cy="70408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2093976"/>
            <a:ext cx="4041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744"/>
                </a:solidFill>
              </a:rPr>
              <a:t>AgentCore Memory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84048" y="2295144"/>
            <a:ext cx="4041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Persistent context for agents — short-term (in-session) and long-term (cross-session) memory storage.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256032" y="2788920"/>
            <a:ext cx="4206240" cy="704088"/>
          </a:xfrm>
          <a:prstGeom prst="rect">
            <a:avLst/>
          </a:prstGeom>
          <a:solidFill>
            <a:srgbClr val="EBF2FA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6032" y="2788920"/>
            <a:ext cx="54864" cy="70408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2834640"/>
            <a:ext cx="4041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744"/>
                </a:solidFill>
              </a:rPr>
              <a:t>AgentCore Identity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84048" y="3035808"/>
            <a:ext cx="4041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OAuth token and API key management. FREE when accessed through Runtime or Gateway.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256032" y="3529584"/>
            <a:ext cx="4206240" cy="704088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6032" y="3529584"/>
            <a:ext cx="54864" cy="70408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3575304"/>
            <a:ext cx="4041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744"/>
                </a:solidFill>
              </a:rPr>
              <a:t>AgentCore Policy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84048" y="3776472"/>
            <a:ext cx="4041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Authorizes every tool call against defined rules. Not yet in AWS Pricing Calculator.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56032" y="4270248"/>
            <a:ext cx="4206240" cy="704088"/>
          </a:xfrm>
          <a:prstGeom prst="rect">
            <a:avLst/>
          </a:prstGeom>
          <a:solidFill>
            <a:srgbClr val="EBF2FA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6032" y="4270248"/>
            <a:ext cx="54864" cy="70408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4315968"/>
            <a:ext cx="4041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744"/>
                </a:solidFill>
              </a:rPr>
              <a:t>Prompt Caching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84048" y="4517136"/>
            <a:ext cx="4041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Stores repeated prompt sections to avoid reprocessing. Writes: $0.00375/1K. Reads: $0.0003/1K (90% less than input).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681728" y="566928"/>
            <a:ext cx="4206240" cy="704088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81728" y="566928"/>
            <a:ext cx="54864" cy="70408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9744" y="612648"/>
            <a:ext cx="4041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744"/>
                </a:solidFill>
              </a:rPr>
              <a:t>Batch Inference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809744" y="813816"/>
            <a:ext cx="4041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Async inference mode — 50% cheaper than on-demand. Processes jobs over hours, not seconds. No latency guarantee.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681728" y="1307592"/>
            <a:ext cx="4206240" cy="704088"/>
          </a:xfrm>
          <a:prstGeom prst="rect">
            <a:avLst/>
          </a:prstGeom>
          <a:solidFill>
            <a:srgbClr val="EBF2FA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81728" y="1307592"/>
            <a:ext cx="54864" cy="70408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9744" y="1353312"/>
            <a:ext cx="4041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744"/>
                </a:solidFill>
              </a:rPr>
              <a:t>PTU (Provisioned Throughput Unit)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809744" y="1554480"/>
            <a:ext cx="4041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Azure's reserved compute model. Fixed hourly cost regardless of usage. Min 50 units global. Only viable above ~60% utilization.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681728" y="2048256"/>
            <a:ext cx="4206240" cy="704088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81728" y="2048256"/>
            <a:ext cx="54864" cy="70408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09744" y="2093976"/>
            <a:ext cx="4041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744"/>
                </a:solidFill>
              </a:rPr>
              <a:t>RAG (Retrieval-Augmented Generation)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809744" y="2295144"/>
            <a:ext cx="4041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Agents query a knowledge base (e.g., OpenSearch) to ground responses in enterprise documents before replying.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681728" y="2788920"/>
            <a:ext cx="4206240" cy="704088"/>
          </a:xfrm>
          <a:prstGeom prst="rect">
            <a:avLst/>
          </a:prstGeom>
          <a:solidFill>
            <a:srgbClr val="EBF2FA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681728" y="2788920"/>
            <a:ext cx="54864" cy="70408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09744" y="2834640"/>
            <a:ext cx="4041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744"/>
                </a:solidFill>
              </a:rPr>
              <a:t>VPC Endpoint / PrivateLink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809744" y="3035808"/>
            <a:ext cx="4041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Routes traffic to Bedrock/AgentCore within AWS's private network — no public internet. Required for banking security policy.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4681728" y="3529584"/>
            <a:ext cx="4206240" cy="704088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681728" y="3529584"/>
            <a:ext cx="54864" cy="70408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09744" y="3575304"/>
            <a:ext cx="4041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744"/>
                </a:solidFill>
              </a:rPr>
              <a:t>Guardrails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809744" y="3776472"/>
            <a:ext cx="4041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Bedrock service for PII masking, content filtering, and topic restrictions. Critical for regulated industries.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4681728" y="4270248"/>
            <a:ext cx="4206240" cy="704088"/>
          </a:xfrm>
          <a:prstGeom prst="rect">
            <a:avLst/>
          </a:prstGeom>
          <a:solidFill>
            <a:srgbClr val="EBF2FA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681728" y="4270248"/>
            <a:ext cx="54864" cy="70408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09744" y="4315968"/>
            <a:ext cx="4041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744"/>
                </a:solidFill>
              </a:rPr>
              <a:t>I/O Wait Time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4809744" y="4517136"/>
            <a:ext cx="4041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Time an agent waits for external responses (LLM, API, DB). On AgentCore, no CPU is billed during this period.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Agent Cost Analysis</dc:title>
  <dc:subject>PptxGenJS Presentation</dc:subject>
  <dc:creator>Chetana</dc:creator>
  <cp:lastModifiedBy>Chetana</cp:lastModifiedBy>
  <cp:revision>1</cp:revision>
  <dcterms:created xsi:type="dcterms:W3CDTF">2026-04-21T13:10:47Z</dcterms:created>
  <dcterms:modified xsi:type="dcterms:W3CDTF">2026-04-21T13:10:47Z</dcterms:modified>
</cp:coreProperties>
</file>